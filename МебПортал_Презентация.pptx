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</a:rPr>
              <a:t>МебПортал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CCCCC"/>
                </a:solidFill>
              </a:rPr>
              <a:t>Платформа для мебельной индустрии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chemeClr val="bg2"/>
                </a:solidFill>
              </a:rPr>
              <a:t>Соединяем</a:t>
            </a:r>
            <a:r>
              <a:rPr sz="1800" b="0" dirty="0">
                <a:solidFill>
                  <a:schemeClr val="bg2"/>
                </a:solidFill>
              </a:rPr>
              <a:t> </a:t>
            </a:r>
            <a:r>
              <a:rPr sz="1800" b="0" dirty="0" err="1">
                <a:solidFill>
                  <a:schemeClr val="bg2"/>
                </a:solidFill>
              </a:rPr>
              <a:t>клиентов</a:t>
            </a:r>
            <a:r>
              <a:rPr sz="1800" b="0" dirty="0">
                <a:solidFill>
                  <a:schemeClr val="bg2"/>
                </a:solidFill>
              </a:rPr>
              <a:t>, </a:t>
            </a:r>
            <a:r>
              <a:rPr lang="ru-RU" dirty="0">
                <a:solidFill>
                  <a:schemeClr val="bg2"/>
                </a:solidFill>
              </a:rPr>
              <a:t>с</a:t>
            </a:r>
            <a:r>
              <a:rPr lang="ru-RU" sz="1800" b="0" dirty="0" smtClean="0">
                <a:solidFill>
                  <a:schemeClr val="bg2"/>
                </a:solidFill>
              </a:rPr>
              <a:t>пециалистов</a:t>
            </a:r>
            <a:r>
              <a:rPr sz="1800" b="0" dirty="0" smtClean="0">
                <a:solidFill>
                  <a:schemeClr val="bg2"/>
                </a:solidFill>
              </a:rPr>
              <a:t>, </a:t>
            </a:r>
            <a:r>
              <a:rPr sz="1800" b="0" dirty="0" err="1">
                <a:solidFill>
                  <a:schemeClr val="bg2"/>
                </a:solidFill>
              </a:rPr>
              <a:t>производителей</a:t>
            </a:r>
            <a:r>
              <a:rPr sz="1800" b="0" dirty="0">
                <a:solidFill>
                  <a:schemeClr val="bg2"/>
                </a:solidFill>
              </a:rPr>
              <a:t> и </a:t>
            </a:r>
            <a:r>
              <a:rPr sz="1800" b="0" dirty="0" err="1">
                <a:solidFill>
                  <a:schemeClr val="bg2"/>
                </a:solidFill>
              </a:rPr>
              <a:t>поставщиков</a:t>
            </a:r>
            <a:r>
              <a:rPr dirty="0">
                <a:solidFill>
                  <a:schemeClr val="bg2"/>
                </a:solidFill>
              </a:rPr>
              <a:t/>
            </a:r>
            <a:br>
              <a:rPr dirty="0">
                <a:solidFill>
                  <a:schemeClr val="bg2"/>
                </a:solidFill>
              </a:rPr>
            </a:br>
            <a:r>
              <a:rPr dirty="0">
                <a:solidFill>
                  <a:schemeClr val="bg2"/>
                </a:solidFill>
              </a:rPr>
              <a:t>в </a:t>
            </a:r>
            <a:r>
              <a:rPr dirty="0" err="1">
                <a:solidFill>
                  <a:schemeClr val="bg2"/>
                </a:solidFill>
              </a:rPr>
              <a:t>одной</a:t>
            </a:r>
            <a:r>
              <a:rPr dirty="0">
                <a:solidFill>
                  <a:schemeClr val="bg2"/>
                </a:solidFill>
              </a:rPr>
              <a:t> </a:t>
            </a:r>
            <a:r>
              <a:rPr dirty="0" err="1">
                <a:solidFill>
                  <a:schemeClr val="bg2"/>
                </a:solidFill>
              </a:rPr>
              <a:t>экосистеме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35"/>
                </a:solidFill>
              </a:rPr>
              <a:t>mebportal.online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Какую проблему мы решаем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</a:rPr>
              <a:t>Клиенты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214"/>
            <a:ext cx="4754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CCCCCC"/>
                </a:solidFill>
              </a:rPr>
              <a:t>Сложно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найти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надёжного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производителя</a:t>
            </a:r>
            <a:r>
              <a:rPr sz="1500" b="0" dirty="0">
                <a:solidFill>
                  <a:srgbClr val="CCCCCC"/>
                </a:solidFill>
              </a:rPr>
              <a:t>. </a:t>
            </a:r>
            <a:r>
              <a:rPr sz="1500" b="0" dirty="0" err="1">
                <a:solidFill>
                  <a:srgbClr val="CCCCCC"/>
                </a:solidFill>
              </a:rPr>
              <a:t>Нет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единого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каталога</a:t>
            </a:r>
            <a:r>
              <a:rPr sz="1500" b="0" dirty="0">
                <a:solidFill>
                  <a:srgbClr val="CCCCCC"/>
                </a:solidFill>
              </a:rPr>
              <a:t> с </a:t>
            </a:r>
            <a:r>
              <a:rPr sz="1500" b="0" dirty="0" err="1">
                <a:solidFill>
                  <a:srgbClr val="CCCCCC"/>
                </a:solidFill>
              </a:rPr>
              <a:t>реальными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портфолио</a:t>
            </a:r>
            <a:r>
              <a:rPr sz="1500" b="0" dirty="0">
                <a:solidFill>
                  <a:srgbClr val="CCCCCC"/>
                </a:solidFill>
              </a:rPr>
              <a:t> и </a:t>
            </a:r>
            <a:r>
              <a:rPr sz="1500" b="0" dirty="0" err="1">
                <a:solidFill>
                  <a:srgbClr val="CCCCCC"/>
                </a:solidFill>
              </a:rPr>
              <a:t>отзывами</a:t>
            </a:r>
            <a:r>
              <a:rPr sz="1500" b="0" dirty="0" smtClean="0">
                <a:solidFill>
                  <a:srgbClr val="CCCCCC"/>
                </a:solidFill>
              </a:rPr>
              <a:t>.</a:t>
            </a:r>
            <a:r>
              <a:rPr lang="ru-RU" sz="1500" b="0" dirty="0" smtClean="0">
                <a:solidFill>
                  <a:srgbClr val="CCCCCC"/>
                </a:solidFill>
              </a:rPr>
              <a:t> На портале вы найдете надежных и проверенных производителей</a:t>
            </a:r>
            <a:endParaRPr sz="1500" b="0" dirty="0">
              <a:solidFill>
                <a:srgbClr val="CCCCCC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</a:rPr>
              <a:t>Дизайнеры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754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CCCCCC"/>
                </a:solidFill>
              </a:rPr>
              <a:t>Тратят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недели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на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lang="ru-RU" sz="1500" dirty="0" smtClean="0">
                <a:solidFill>
                  <a:srgbClr val="CCCCCC"/>
                </a:solidFill>
              </a:rPr>
              <a:t>поиск</a:t>
            </a:r>
            <a:r>
              <a:rPr sz="1500" b="0" dirty="0" smtClean="0">
                <a:solidFill>
                  <a:srgbClr val="CCCCCC"/>
                </a:solidFill>
              </a:rPr>
              <a:t> </a:t>
            </a:r>
            <a:r>
              <a:rPr lang="ru-RU" sz="1500" b="0" dirty="0" smtClean="0">
                <a:solidFill>
                  <a:srgbClr val="CCCCCC"/>
                </a:solidFill>
              </a:rPr>
              <a:t>исполнителей</a:t>
            </a:r>
            <a:r>
              <a:rPr sz="1500" b="0" dirty="0" smtClean="0">
                <a:solidFill>
                  <a:srgbClr val="CCCCCC"/>
                </a:solidFill>
              </a:rPr>
              <a:t> </a:t>
            </a:r>
            <a:r>
              <a:rPr lang="ru-RU" sz="1500" b="0" dirty="0" smtClean="0">
                <a:solidFill>
                  <a:srgbClr val="CCCCCC"/>
                </a:solidFill>
              </a:rPr>
              <a:t>, материалов</a:t>
            </a:r>
            <a:r>
              <a:rPr sz="1500" b="0" dirty="0" smtClean="0">
                <a:solidFill>
                  <a:srgbClr val="CCCCCC"/>
                </a:solidFill>
              </a:rPr>
              <a:t>. </a:t>
            </a:r>
            <a:r>
              <a:rPr sz="1500" b="0" dirty="0" err="1">
                <a:solidFill>
                  <a:srgbClr val="CCCCCC"/>
                </a:solidFill>
              </a:rPr>
              <a:t>Каждый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проект</a:t>
            </a:r>
            <a:r>
              <a:rPr sz="1500" b="0" dirty="0">
                <a:solidFill>
                  <a:srgbClr val="CCCCCC"/>
                </a:solidFill>
              </a:rPr>
              <a:t> — с </a:t>
            </a:r>
            <a:r>
              <a:rPr sz="1500" b="0" dirty="0" err="1">
                <a:solidFill>
                  <a:srgbClr val="CCCCCC"/>
                </a:solidFill>
              </a:rPr>
              <a:t>нуля</a:t>
            </a:r>
            <a:r>
              <a:rPr sz="1500" b="0" dirty="0">
                <a:solidFill>
                  <a:srgbClr val="CCCCCC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</a:rPr>
              <a:t>Производители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47548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CCCCCC"/>
                </a:solidFill>
              </a:rPr>
              <a:t>Нет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доступа</a:t>
            </a:r>
            <a:r>
              <a:rPr sz="1500" b="0" dirty="0">
                <a:solidFill>
                  <a:srgbClr val="CCCCCC"/>
                </a:solidFill>
              </a:rPr>
              <a:t> к </a:t>
            </a:r>
            <a:r>
              <a:rPr sz="1500" b="0" dirty="0" err="1">
                <a:solidFill>
                  <a:srgbClr val="CCCCCC"/>
                </a:solidFill>
              </a:rPr>
              <a:t>целевой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аудитории</a:t>
            </a:r>
            <a:r>
              <a:rPr sz="1500" b="0" dirty="0">
                <a:solidFill>
                  <a:srgbClr val="CCCCCC"/>
                </a:solidFill>
              </a:rPr>
              <a:t>. </a:t>
            </a:r>
            <a:r>
              <a:rPr sz="1500" b="0" dirty="0" err="1">
                <a:solidFill>
                  <a:srgbClr val="CCCCCC"/>
                </a:solidFill>
              </a:rPr>
              <a:t>Маркетинг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дорогой</a:t>
            </a:r>
            <a:r>
              <a:rPr sz="1500" b="0" dirty="0">
                <a:solidFill>
                  <a:srgbClr val="CCCCCC"/>
                </a:solidFill>
              </a:rPr>
              <a:t> и </a:t>
            </a:r>
            <a:r>
              <a:rPr sz="1500" b="0" dirty="0" err="1">
                <a:solidFill>
                  <a:srgbClr val="CCCCCC"/>
                </a:solidFill>
              </a:rPr>
              <a:t>неэффективный</a:t>
            </a:r>
            <a:r>
              <a:rPr sz="1500" b="0" dirty="0" smtClean="0">
                <a:solidFill>
                  <a:srgbClr val="CCCCCC"/>
                </a:solidFill>
              </a:rPr>
              <a:t>.</a:t>
            </a:r>
            <a:r>
              <a:rPr lang="ru-RU" sz="1500" b="0" dirty="0" smtClean="0">
                <a:solidFill>
                  <a:srgbClr val="CCCCCC"/>
                </a:solidFill>
              </a:rPr>
              <a:t> Сюда клиент </a:t>
            </a:r>
            <a:r>
              <a:rPr lang="ru-RU" sz="1500" b="0" dirty="0" err="1" smtClean="0">
                <a:solidFill>
                  <a:srgbClr val="CCCCCC"/>
                </a:solidFill>
              </a:rPr>
              <a:t>прийдет</a:t>
            </a:r>
            <a:r>
              <a:rPr lang="ru-RU" sz="1500" b="0" dirty="0" smtClean="0">
                <a:solidFill>
                  <a:srgbClr val="CCCCCC"/>
                </a:solidFill>
              </a:rPr>
              <a:t> сам.</a:t>
            </a:r>
            <a:endParaRPr sz="1500" b="0" dirty="0">
              <a:solidFill>
                <a:srgbClr val="CCCCCC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</a:rPr>
              <a:t>Поставщики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46320"/>
            <a:ext cx="47548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500" b="0" dirty="0" smtClean="0">
                <a:solidFill>
                  <a:srgbClr val="CCCCCC"/>
                </a:solidFill>
              </a:rPr>
              <a:t>Весь список производителей как на ладони. </a:t>
            </a:r>
            <a:r>
              <a:rPr sz="1500" b="0" dirty="0" err="1" smtClean="0">
                <a:solidFill>
                  <a:srgbClr val="CCCCCC"/>
                </a:solidFill>
              </a:rPr>
              <a:t>Сложн</a:t>
            </a:r>
            <a:r>
              <a:rPr lang="ru-RU" sz="1500" b="0" dirty="0" smtClean="0">
                <a:solidFill>
                  <a:srgbClr val="CCCCCC"/>
                </a:solidFill>
              </a:rPr>
              <a:t>ости</a:t>
            </a:r>
            <a:r>
              <a:rPr sz="1500" b="0" dirty="0" smtClean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профессионалов</a:t>
            </a:r>
            <a:r>
              <a:rPr sz="1500" b="0" dirty="0">
                <a:solidFill>
                  <a:srgbClr val="CCCCCC"/>
                </a:solidFill>
              </a:rPr>
              <a:t>, </a:t>
            </a:r>
            <a:r>
              <a:rPr sz="1500" b="0" dirty="0" err="1">
                <a:solidFill>
                  <a:srgbClr val="CCCCCC"/>
                </a:solidFill>
              </a:rPr>
              <a:t>которые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реально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работают</a:t>
            </a:r>
            <a:r>
              <a:rPr sz="1500" b="0" dirty="0">
                <a:solidFill>
                  <a:srgbClr val="CCCCCC"/>
                </a:solidFill>
              </a:rPr>
              <a:t> с </a:t>
            </a:r>
            <a:r>
              <a:rPr sz="1500" b="0" dirty="0" err="1">
                <a:solidFill>
                  <a:srgbClr val="CCCCCC"/>
                </a:solidFill>
              </a:rPr>
              <a:t>их</a:t>
            </a:r>
            <a:r>
              <a:rPr sz="1500" b="0" dirty="0">
                <a:solidFill>
                  <a:srgbClr val="CCCCCC"/>
                </a:solidFill>
              </a:rPr>
              <a:t> </a:t>
            </a:r>
            <a:r>
              <a:rPr sz="1500" b="0" dirty="0" err="1">
                <a:solidFill>
                  <a:srgbClr val="CCCCCC"/>
                </a:solidFill>
              </a:rPr>
              <a:t>продукцией</a:t>
            </a:r>
            <a:r>
              <a:rPr sz="1500" b="0" dirty="0">
                <a:solidFill>
                  <a:srgbClr val="CCCCCC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Что такое МебПортал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Каталог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20116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>
                    <a:lumMod val="75000"/>
                  </a:schemeClr>
                </a:solidFill>
              </a:rPr>
              <a:t>Компании</a:t>
            </a:r>
            <a:r>
              <a:rPr sz="1400" b="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sz="1400" b="0" dirty="0" err="1">
                <a:solidFill>
                  <a:schemeClr val="bg1">
                    <a:lumMod val="75000"/>
                  </a:schemeClr>
                </a:solidFill>
              </a:rPr>
              <a:t>поставщики</a:t>
            </a:r>
            <a:r>
              <a:rPr sz="1400" b="0" dirty="0">
                <a:solidFill>
                  <a:schemeClr val="bg1">
                    <a:lumMod val="75000"/>
                  </a:schemeClr>
                </a:solidFill>
              </a:rPr>
              <a:t>,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dirty="0">
                <a:solidFill>
                  <a:schemeClr val="bg1">
                    <a:lumMod val="75000"/>
                  </a:schemeClr>
                </a:solidFill>
              </a:rPr>
            </a:b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производители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специалисты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5603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Лента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57600"/>
            <a:ext cx="2011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>
                    <a:lumMod val="75000"/>
                  </a:schemeClr>
                </a:solidFill>
              </a:rPr>
              <a:t>Новости</a:t>
            </a:r>
            <a:r>
              <a:rPr sz="1400" b="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sz="1400" b="0" dirty="0" err="1">
                <a:solidFill>
                  <a:schemeClr val="bg1">
                    <a:lumMod val="75000"/>
                  </a:schemeClr>
                </a:solidFill>
              </a:rPr>
              <a:t>проекты</a:t>
            </a:r>
            <a:r>
              <a:rPr sz="1400" b="0" dirty="0">
                <a:solidFill>
                  <a:schemeClr val="bg1">
                    <a:lumMod val="75000"/>
                  </a:schemeClr>
                </a:solidFill>
              </a:rPr>
              <a:t>,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dirty="0">
                <a:solidFill>
                  <a:schemeClr val="bg1">
                    <a:lumMod val="75000"/>
                  </a:schemeClr>
                </a:solidFill>
              </a:rPr>
            </a:b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статьи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портфолио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25603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Общение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57600"/>
            <a:ext cx="20116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>
                    <a:lumMod val="75000"/>
                  </a:schemeClr>
                </a:solidFill>
              </a:rPr>
              <a:t>Мессенджер</a:t>
            </a:r>
            <a:r>
              <a:rPr sz="1400" b="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sz="1400" b="0" dirty="0" err="1">
                <a:solidFill>
                  <a:schemeClr val="bg1">
                    <a:lumMod val="75000"/>
                  </a:schemeClr>
                </a:solidFill>
              </a:rPr>
              <a:t>группы</a:t>
            </a:r>
            <a:r>
              <a:rPr sz="1400" b="0" dirty="0">
                <a:solidFill>
                  <a:schemeClr val="bg1">
                    <a:lumMod val="75000"/>
                  </a:schemeClr>
                </a:solidFill>
              </a:rPr>
              <a:t>,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dirty="0">
                <a:solidFill>
                  <a:schemeClr val="bg1">
                    <a:lumMod val="75000"/>
                  </a:schemeClr>
                </a:solidFill>
              </a:rPr>
            </a:b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мероприятия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комментарии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Продвижение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657600"/>
            <a:ext cx="2011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chemeClr val="bg1">
                    <a:lumMod val="75000"/>
                  </a:schemeClr>
                </a:solidFill>
              </a:rPr>
              <a:t>Баннеры</a:t>
            </a:r>
            <a:r>
              <a:rPr sz="1400" b="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sz="1400" b="0" dirty="0" err="1">
                <a:solidFill>
                  <a:schemeClr val="bg1">
                    <a:lumMod val="75000"/>
                  </a:schemeClr>
                </a:solidFill>
              </a:rPr>
              <a:t>продвижение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/>
            </a:r>
            <a:br>
              <a:rPr dirty="0">
                <a:solidFill>
                  <a:schemeClr val="bg1">
                    <a:lumMod val="75000"/>
                  </a:schemeClr>
                </a:solidFill>
              </a:rPr>
            </a:b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постов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dirty="0" err="1">
                <a:solidFill>
                  <a:schemeClr val="bg1">
                    <a:lumMod val="75000"/>
                  </a:schemeClr>
                </a:solidFill>
              </a:rPr>
              <a:t>рейтинг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Для клиентов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8229600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dirty="0">
                <a:solidFill>
                  <a:srgbClr val="CCCCCC"/>
                </a:solidFill>
              </a:rPr>
              <a:t>▸  </a:t>
            </a:r>
            <a:r>
              <a:rPr sz="1800" dirty="0" err="1">
                <a:solidFill>
                  <a:srgbClr val="CCCCCC"/>
                </a:solidFill>
              </a:rPr>
              <a:t>Единый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каталог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мебельных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компаний</a:t>
            </a:r>
            <a:r>
              <a:rPr sz="1800" dirty="0">
                <a:solidFill>
                  <a:srgbClr val="CCCCCC"/>
                </a:solidFill>
              </a:rPr>
              <a:t> с </a:t>
            </a:r>
            <a:r>
              <a:rPr sz="1800" dirty="0" err="1">
                <a:solidFill>
                  <a:srgbClr val="CCCCCC"/>
                </a:solidFill>
              </a:rPr>
              <a:t>портфолио</a:t>
            </a:r>
            <a:r>
              <a:rPr sz="1800" dirty="0">
                <a:solidFill>
                  <a:srgbClr val="CCCCCC"/>
                </a:solidFill>
              </a:rPr>
              <a:t> и </a:t>
            </a:r>
            <a:r>
              <a:rPr sz="1800" dirty="0" err="1">
                <a:solidFill>
                  <a:srgbClr val="CCCCCC"/>
                </a:solidFill>
              </a:rPr>
              <a:t>рейтингами</a:t>
            </a:r>
            <a:endParaRPr sz="1800" dirty="0">
              <a:solidFill>
                <a:srgbClr val="CCCCCC"/>
              </a:solidFill>
            </a:endParaRPr>
          </a:p>
          <a:p>
            <a:pPr>
              <a:spcAft>
                <a:spcPts val="1400"/>
              </a:spcAft>
            </a:pPr>
            <a:r>
              <a:rPr sz="1800" dirty="0">
                <a:solidFill>
                  <a:srgbClr val="CCCCCC"/>
                </a:solidFill>
              </a:rPr>
              <a:t>▸  </a:t>
            </a:r>
            <a:r>
              <a:rPr sz="1800" dirty="0" err="1">
                <a:solidFill>
                  <a:srgbClr val="CCCCCC"/>
                </a:solidFill>
              </a:rPr>
              <a:t>Поиск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специалистов</a:t>
            </a:r>
            <a:r>
              <a:rPr sz="1800" dirty="0">
                <a:solidFill>
                  <a:srgbClr val="CCCCCC"/>
                </a:solidFill>
              </a:rPr>
              <a:t>: </a:t>
            </a:r>
            <a:r>
              <a:rPr sz="1800" dirty="0" err="1">
                <a:solidFill>
                  <a:srgbClr val="CCCCCC"/>
                </a:solidFill>
              </a:rPr>
              <a:t>дизайнеров</a:t>
            </a:r>
            <a:r>
              <a:rPr sz="1800" dirty="0">
                <a:solidFill>
                  <a:srgbClr val="CCCCCC"/>
                </a:solidFill>
              </a:rPr>
              <a:t>, </a:t>
            </a:r>
            <a:r>
              <a:rPr sz="1800" dirty="0" err="1">
                <a:solidFill>
                  <a:srgbClr val="CCCCCC"/>
                </a:solidFill>
              </a:rPr>
              <a:t>технологов</a:t>
            </a:r>
            <a:r>
              <a:rPr sz="1800" dirty="0">
                <a:solidFill>
                  <a:srgbClr val="CCCCCC"/>
                </a:solidFill>
              </a:rPr>
              <a:t>, </a:t>
            </a:r>
            <a:r>
              <a:rPr sz="1800" dirty="0" err="1">
                <a:solidFill>
                  <a:srgbClr val="CCCCCC"/>
                </a:solidFill>
              </a:rPr>
              <a:t>монтажников</a:t>
            </a:r>
            <a:endParaRPr sz="1800" dirty="0">
              <a:solidFill>
                <a:srgbClr val="CCCCCC"/>
              </a:solidFill>
            </a:endParaRPr>
          </a:p>
          <a:p>
            <a:pPr>
              <a:spcAft>
                <a:spcPts val="1400"/>
              </a:spcAft>
            </a:pPr>
            <a:r>
              <a:rPr sz="1800" dirty="0">
                <a:solidFill>
                  <a:srgbClr val="CCCCCC"/>
                </a:solidFill>
              </a:rPr>
              <a:t>▸  </a:t>
            </a:r>
            <a:r>
              <a:rPr sz="1800" dirty="0" err="1">
                <a:solidFill>
                  <a:srgbClr val="CCCCCC"/>
                </a:solidFill>
              </a:rPr>
              <a:t>Просмотр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реальных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проектов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lang="ru-RU" sz="1800" dirty="0" smtClean="0">
                <a:solidFill>
                  <a:srgbClr val="CCCCCC"/>
                </a:solidFill>
              </a:rPr>
              <a:t>и эскизов изделий </a:t>
            </a:r>
            <a:r>
              <a:rPr sz="1800" dirty="0" err="1" smtClean="0">
                <a:solidFill>
                  <a:srgbClr val="CCCCCC"/>
                </a:solidFill>
              </a:rPr>
              <a:t>до</a:t>
            </a:r>
            <a:r>
              <a:rPr sz="1800" dirty="0" smtClean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заказа</a:t>
            </a:r>
            <a:endParaRPr sz="1800" dirty="0">
              <a:solidFill>
                <a:srgbClr val="CCCCCC"/>
              </a:solidFill>
            </a:endParaRPr>
          </a:p>
          <a:p>
            <a:pPr>
              <a:spcAft>
                <a:spcPts val="1400"/>
              </a:spcAft>
            </a:pPr>
            <a:r>
              <a:rPr sz="1800" dirty="0">
                <a:solidFill>
                  <a:srgbClr val="CCCCCC"/>
                </a:solidFill>
              </a:rPr>
              <a:t>▸  </a:t>
            </a:r>
            <a:r>
              <a:rPr sz="1800" dirty="0" err="1">
                <a:solidFill>
                  <a:srgbClr val="CCCCCC"/>
                </a:solidFill>
              </a:rPr>
              <a:t>Сравнение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поставщиков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по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ценам</a:t>
            </a:r>
            <a:r>
              <a:rPr sz="1800" dirty="0">
                <a:solidFill>
                  <a:srgbClr val="CCCCCC"/>
                </a:solidFill>
              </a:rPr>
              <a:t> и </a:t>
            </a:r>
            <a:r>
              <a:rPr sz="1800" dirty="0" err="1">
                <a:solidFill>
                  <a:srgbClr val="CCCCCC"/>
                </a:solidFill>
              </a:rPr>
              <a:t>отзывам</a:t>
            </a:r>
            <a:endParaRPr sz="1800" dirty="0">
              <a:solidFill>
                <a:srgbClr val="CCCCCC"/>
              </a:solidFill>
            </a:endParaRPr>
          </a:p>
          <a:p>
            <a:pPr>
              <a:spcAft>
                <a:spcPts val="1400"/>
              </a:spcAft>
            </a:pPr>
            <a:r>
              <a:rPr sz="1800" dirty="0">
                <a:solidFill>
                  <a:srgbClr val="CCCCCC"/>
                </a:solidFill>
              </a:rPr>
              <a:t>▸  </a:t>
            </a:r>
            <a:r>
              <a:rPr sz="1800" dirty="0" err="1">
                <a:solidFill>
                  <a:srgbClr val="CCCCCC"/>
                </a:solidFill>
              </a:rPr>
              <a:t>Прямое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общение</a:t>
            </a:r>
            <a:r>
              <a:rPr sz="1800" dirty="0">
                <a:solidFill>
                  <a:srgbClr val="CCCCCC"/>
                </a:solidFill>
              </a:rPr>
              <a:t> с </a:t>
            </a:r>
            <a:r>
              <a:rPr sz="1800" dirty="0" err="1">
                <a:solidFill>
                  <a:srgbClr val="CCCCCC"/>
                </a:solidFill>
              </a:rPr>
              <a:t>производителями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через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мессенджер</a:t>
            </a:r>
            <a:endParaRPr sz="1800" dirty="0">
              <a:solidFill>
                <a:srgbClr val="CCCCCC"/>
              </a:solidFill>
            </a:endParaRPr>
          </a:p>
          <a:p>
            <a:pPr>
              <a:spcAft>
                <a:spcPts val="1400"/>
              </a:spcAft>
            </a:pPr>
            <a:r>
              <a:rPr sz="1800" dirty="0">
                <a:solidFill>
                  <a:srgbClr val="CCCCCC"/>
                </a:solidFill>
              </a:rPr>
              <a:t>▸  </a:t>
            </a:r>
            <a:r>
              <a:rPr sz="1800" dirty="0" err="1">
                <a:solidFill>
                  <a:srgbClr val="CCCCCC"/>
                </a:solidFill>
              </a:rPr>
              <a:t>Следите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за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трендами</a:t>
            </a:r>
            <a:r>
              <a:rPr sz="1800" dirty="0">
                <a:solidFill>
                  <a:srgbClr val="CCCCCC"/>
                </a:solidFill>
              </a:rPr>
              <a:t> в </a:t>
            </a:r>
            <a:r>
              <a:rPr sz="1800" dirty="0" err="1">
                <a:solidFill>
                  <a:srgbClr val="CCCCCC"/>
                </a:solidFill>
              </a:rPr>
              <a:t>ленте</a:t>
            </a:r>
            <a:r>
              <a:rPr sz="1800" dirty="0">
                <a:solidFill>
                  <a:srgbClr val="CCCCCC"/>
                </a:solidFill>
              </a:rPr>
              <a:t> </a:t>
            </a:r>
            <a:r>
              <a:rPr sz="1800" dirty="0" err="1">
                <a:solidFill>
                  <a:srgbClr val="CCCCCC"/>
                </a:solidFill>
              </a:rPr>
              <a:t>новостей</a:t>
            </a:r>
            <a:endParaRPr sz="1800" dirty="0">
              <a:solidFill>
                <a:srgbClr val="CCCCCC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</a:rPr>
              <a:t>💡  Экономия времени: от поиска до заказа — на одной платформе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Для дизайнеров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1371600" cy="1371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Портфолио-конструктор: выставляйте работы на обозрение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Библиотека изображений мебели для вдохновения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Справочники: размеры, материалы, фурнитура, нормы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Поиск поставщиков по категориям продукции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Создавайте статьи и делитесь экспертизой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Подписывайтесь на коллег — будьте в курсе трендов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</a:rPr>
              <a:t>💡  Находите клиентов через портфолио и экспертные публикации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Для производителей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1371600" cy="1371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Прямой доступ к целевой аудитории — без посредников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Каталог продукции с описаниями и характеристиками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Создавайте новости о производстве и технологиях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Верификация профиля — повышает доверие клиентов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Продвижение: баннеры, продвинутые посты в ленте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Статистика загрузок и просмотров ваших материалов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</a:rPr>
              <a:t>💡  Снижение стоимости привлечения клиента в 3-5 раз vs традиционный маркетинг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Для поставщиков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1371600" cy="13716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Каталог с категориями продукции для удобного поиска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Верификация — подтверждение надёжности поставщика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Публикация обзоров и сравнений продукции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Прямой контакт с производителями и дизайнерами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Рекламные баннеры в каталоге и ленте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Аналитика: кто смотрит ваш профиль и продукцию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CB71"/>
                </a:solidFill>
              </a:rPr>
              <a:t>💡  Новые каналы продаж через профессиональное сообщество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Для мебельных компаний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1371600" cy="13716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Каталог компании с логотипом, описанием и контактами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Верификация профиля — марка доверия для клиентов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Публикация товаров с ценами и характеристиками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Лента для новостей, акций и специальных предложений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Найм сотрудников через поиск специалистов на платформе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Обратная связь: отзывы и рейтинг от клиентов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</a:rPr>
              <a:t>💡  Увеличение узнаваемости бренда и привлечение новых клиентов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Для специалистов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1371600" cy="1371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Профиль с портфолио, опытом и рейтингом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Типы: дизайнер, технолог, монтажник, менеджер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Отзывы и рекомендации от клиентов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Поиск заказов через ленту и мессенджер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Создание экспертных статей — повышение видимости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CCCCCC"/>
                </a:solidFill>
              </a:rPr>
              <a:t>▸  Подписки от компаний и коллег — расширение сети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</a:rPr>
              <a:t>💡  Личный бренд через портфолио и экспертный контент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Модель монетизации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CB71"/>
                </a:solidFill>
              </a:rPr>
              <a:t>Продвижение постов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CCCCCC"/>
                </a:solidFill>
              </a:rPr>
              <a:t>Пост</a:t>
            </a:r>
            <a:r>
              <a:rPr sz="1400" b="0" dirty="0">
                <a:solidFill>
                  <a:srgbClr val="CCCCCC"/>
                </a:solidFill>
              </a:rPr>
              <a:t> </a:t>
            </a:r>
            <a:r>
              <a:rPr sz="1400" b="0" dirty="0" err="1">
                <a:solidFill>
                  <a:srgbClr val="CCCCCC"/>
                </a:solidFill>
              </a:rPr>
              <a:t>поднимается</a:t>
            </a:r>
            <a:r>
              <a:rPr sz="1400" b="0" dirty="0">
                <a:solidFill>
                  <a:srgbClr val="CCCCCC"/>
                </a:solidFill>
              </a:rPr>
              <a:t> в </a:t>
            </a:r>
            <a:r>
              <a:rPr sz="1400" b="0" dirty="0" err="1">
                <a:solidFill>
                  <a:srgbClr val="CCCCCC"/>
                </a:solidFill>
              </a:rPr>
              <a:t>начало</a:t>
            </a:r>
            <a:r>
              <a:rPr sz="1400" b="0" dirty="0">
                <a:solidFill>
                  <a:srgbClr val="CCCCCC"/>
                </a:solidFill>
              </a:rPr>
              <a:t> </a:t>
            </a:r>
            <a:r>
              <a:rPr sz="1400" b="0" dirty="0" err="1">
                <a:solidFill>
                  <a:srgbClr val="CCCCCC"/>
                </a:solidFill>
              </a:rPr>
              <a:t>ленты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rgbClr val="FF0000"/>
                </a:solidFill>
              </a:rPr>
              <a:t>с </a:t>
            </a:r>
            <a:r>
              <a:rPr dirty="0" err="1">
                <a:solidFill>
                  <a:srgbClr val="FF0000"/>
                </a:solidFill>
              </a:rPr>
              <a:t>меткой</a:t>
            </a:r>
            <a:r>
              <a:rPr dirty="0">
                <a:solidFill>
                  <a:srgbClr val="FF0000"/>
                </a:solidFill>
              </a:rPr>
              <a:t> «</a:t>
            </a:r>
            <a:r>
              <a:rPr dirty="0" err="1">
                <a:solidFill>
                  <a:srgbClr val="FF0000"/>
                </a:solidFill>
              </a:rPr>
              <a:t>Продвижение</a:t>
            </a:r>
            <a:r>
              <a:rPr dirty="0">
                <a:solidFill>
                  <a:srgbClr val="FF0000"/>
                </a:solidFill>
              </a:rPr>
              <a:t>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560320"/>
            <a:ext cx="1463040" cy="731520"/>
          </a:xfrm>
          <a:prstGeom prst="round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26517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</a:rPr>
              <a:t>7 / 14 / 30 дней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CB71"/>
                </a:solidFill>
              </a:rPr>
              <a:t>Баннеры в ленте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CCCCCC"/>
                </a:solidFill>
              </a:rPr>
              <a:t>Рекламный</a:t>
            </a:r>
            <a:r>
              <a:rPr sz="1400" b="0" dirty="0">
                <a:solidFill>
                  <a:srgbClr val="CCCCCC"/>
                </a:solidFill>
              </a:rPr>
              <a:t> </a:t>
            </a:r>
            <a:r>
              <a:rPr sz="1400" b="0" dirty="0" err="1">
                <a:solidFill>
                  <a:srgbClr val="CCCCCC"/>
                </a:solidFill>
              </a:rPr>
              <a:t>баннер</a:t>
            </a:r>
            <a:r>
              <a:rPr sz="1400" b="0" dirty="0">
                <a:solidFill>
                  <a:srgbClr val="CCCCCC"/>
                </a:solidFill>
              </a:rPr>
              <a:t> </a:t>
            </a:r>
            <a:r>
              <a:rPr sz="1400" b="0" dirty="0" err="1">
                <a:solidFill>
                  <a:srgbClr val="CCCCCC"/>
                </a:solidFill>
              </a:rPr>
              <a:t>между</a:t>
            </a:r>
            <a:r>
              <a:rPr dirty="0"/>
              <a:t/>
            </a:r>
            <a:br>
              <a:rPr dirty="0"/>
            </a:br>
            <a:r>
              <a:rPr dirty="0" err="1">
                <a:solidFill>
                  <a:srgbClr val="FF0000"/>
                </a:solidFill>
              </a:rPr>
              <a:t>постами</a:t>
            </a:r>
            <a:r>
              <a:rPr dirty="0">
                <a:solidFill>
                  <a:srgbClr val="FF0000"/>
                </a:solidFill>
              </a:rPr>
              <a:t> в </a:t>
            </a:r>
            <a:r>
              <a:rPr dirty="0" err="1">
                <a:solidFill>
                  <a:srgbClr val="FF0000"/>
                </a:solidFill>
              </a:rPr>
              <a:t>ленте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875520" y="2560320"/>
            <a:ext cx="1463040" cy="731520"/>
          </a:xfrm>
          <a:prstGeom prst="round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60" y="26517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</a:rPr>
              <a:t>Позиции и сроки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CB71"/>
                </a:solidFill>
              </a:rPr>
              <a:t>Баннеры в каталоге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CCCCCC"/>
                </a:solidFill>
              </a:rPr>
              <a:t>Рекламный</a:t>
            </a:r>
            <a:r>
              <a:rPr sz="1400" b="0" dirty="0">
                <a:solidFill>
                  <a:srgbClr val="CCCCCC"/>
                </a:solidFill>
              </a:rPr>
              <a:t> </a:t>
            </a:r>
            <a:r>
              <a:rPr sz="1400" b="0" dirty="0" err="1">
                <a:solidFill>
                  <a:srgbClr val="CCCCCC"/>
                </a:solidFill>
              </a:rPr>
              <a:t>баннер</a:t>
            </a:r>
            <a:r>
              <a:rPr sz="1400" b="0" dirty="0">
                <a:solidFill>
                  <a:srgbClr val="CCCCCC"/>
                </a:solidFill>
              </a:rPr>
              <a:t> </a:t>
            </a:r>
            <a:r>
              <a:rPr sz="1400" b="0" dirty="0" err="1">
                <a:solidFill>
                  <a:srgbClr val="CCCCCC"/>
                </a:solidFill>
              </a:rPr>
              <a:t>над</a:t>
            </a:r>
            <a:r>
              <a:rPr dirty="0"/>
              <a:t/>
            </a:r>
            <a:br>
              <a:rPr dirty="0"/>
            </a:br>
            <a:r>
              <a:rPr dirty="0" err="1">
                <a:solidFill>
                  <a:srgbClr val="FF0000"/>
                </a:solidFill>
              </a:rPr>
              <a:t>результатами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поиска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06240" y="4754880"/>
            <a:ext cx="1463040" cy="731520"/>
          </a:xfrm>
          <a:prstGeom prst="round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97680" y="48463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</a:rPr>
              <a:t>Видимость 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53035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CB71"/>
                </a:solidFill>
              </a:rPr>
              <a:t>Премиум-профиль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CCCCCC"/>
                </a:solidFill>
              </a:rPr>
              <a:t>Выделение</a:t>
            </a:r>
            <a:r>
              <a:rPr sz="1400" b="0" dirty="0">
                <a:solidFill>
                  <a:srgbClr val="CCCCCC"/>
                </a:solidFill>
              </a:rPr>
              <a:t> в </a:t>
            </a:r>
            <a:r>
              <a:rPr sz="1400" b="0" dirty="0" err="1">
                <a:solidFill>
                  <a:srgbClr val="CCCCCC"/>
                </a:solidFill>
              </a:rPr>
              <a:t>каталоге</a:t>
            </a:r>
            <a:r>
              <a:rPr sz="1400" b="0" dirty="0">
                <a:solidFill>
                  <a:srgbClr val="CCCCCC"/>
                </a:solidFill>
              </a:rPr>
              <a:t>,</a:t>
            </a:r>
            <a:r>
              <a:rPr dirty="0"/>
              <a:t/>
            </a:r>
            <a:br>
              <a:rPr dirty="0"/>
            </a:br>
            <a:r>
              <a:rPr dirty="0" err="1">
                <a:solidFill>
                  <a:srgbClr val="FF0000"/>
                </a:solidFill>
              </a:rPr>
              <a:t>приоритет</a:t>
            </a:r>
            <a:r>
              <a:rPr dirty="0">
                <a:solidFill>
                  <a:srgbClr val="FF0000"/>
                </a:solidFill>
              </a:rPr>
              <a:t> в </a:t>
            </a:r>
            <a:r>
              <a:rPr dirty="0" err="1">
                <a:solidFill>
                  <a:srgbClr val="FF0000"/>
                </a:solidFill>
              </a:rPr>
              <a:t>поиске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875520" y="4754880"/>
            <a:ext cx="1463040" cy="731520"/>
          </a:xfrm>
          <a:prstGeom prst="round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60" y="48463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</a:rPr>
              <a:t>Подписка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Технологический стек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Next.js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888899"/>
                </a:solidFill>
              </a:rPr>
              <a:t>Современный</a:t>
            </a:r>
            <a:r>
              <a:rPr sz="1400" b="0" dirty="0">
                <a:solidFill>
                  <a:srgbClr val="888899"/>
                </a:solidFill>
              </a:rPr>
              <a:t> </a:t>
            </a:r>
            <a:r>
              <a:rPr sz="1400" b="0" dirty="0" err="1">
                <a:solidFill>
                  <a:srgbClr val="888899"/>
                </a:solidFill>
              </a:rPr>
              <a:t>фреймворк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rgbClr val="FF0000"/>
                </a:solidFill>
              </a:rPr>
              <a:t>с App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79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React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743200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888899"/>
                </a:solidFill>
              </a:rPr>
              <a:t>Компонентный</a:t>
            </a:r>
            <a:r>
              <a:rPr sz="1400" b="0" dirty="0">
                <a:solidFill>
                  <a:srgbClr val="888899"/>
                </a:solidFill>
              </a:rPr>
              <a:t> </a:t>
            </a:r>
            <a:r>
              <a:rPr sz="1400" b="0" dirty="0" err="1">
                <a:solidFill>
                  <a:srgbClr val="888899"/>
                </a:solidFill>
              </a:rPr>
              <a:t>подход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rgbClr val="FF0000"/>
                </a:solidFill>
              </a:rPr>
              <a:t>и </a:t>
            </a:r>
            <a:r>
              <a:rPr dirty="0" err="1">
                <a:solidFill>
                  <a:srgbClr val="FF0000"/>
                </a:solidFill>
              </a:rPr>
              <a:t>производительность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598" y="182880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18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8" y="2743200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888899"/>
                </a:solidFill>
              </a:rPr>
              <a:t>Надёжная</a:t>
            </a:r>
            <a:r>
              <a:rPr sz="1400" b="0" dirty="0">
                <a:solidFill>
                  <a:srgbClr val="888899"/>
                </a:solidFill>
              </a:rPr>
              <a:t> </a:t>
            </a:r>
            <a:r>
              <a:rPr sz="1400" b="0" dirty="0" err="1">
                <a:solidFill>
                  <a:srgbClr val="888899"/>
                </a:solidFill>
              </a:rPr>
              <a:t>база</a:t>
            </a:r>
            <a:r>
              <a:rPr sz="1400" b="0" dirty="0">
                <a:solidFill>
                  <a:srgbClr val="888899"/>
                </a:solidFill>
              </a:rPr>
              <a:t> </a:t>
            </a:r>
            <a:r>
              <a:rPr sz="1400" b="0" dirty="0" err="1">
                <a:solidFill>
                  <a:srgbClr val="888899"/>
                </a:solidFill>
              </a:rPr>
              <a:t>данных</a:t>
            </a:r>
            <a:r>
              <a:rPr dirty="0"/>
              <a:t/>
            </a:r>
            <a:br>
              <a:rPr dirty="0"/>
            </a:br>
            <a:r>
              <a:rPr dirty="0" err="1">
                <a:solidFill>
                  <a:srgbClr val="FF0000"/>
                </a:solidFill>
              </a:rPr>
              <a:t>для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масштабирования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Prisma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888899"/>
                </a:solidFill>
              </a:rPr>
              <a:t>Type-safe ORM</a:t>
            </a:r>
            <a:r>
              <a:rPr dirty="0"/>
              <a:t/>
            </a:r>
            <a:br>
              <a:rPr dirty="0"/>
            </a:br>
            <a:r>
              <a:rPr dirty="0" err="1">
                <a:solidFill>
                  <a:srgbClr val="FF0000"/>
                </a:solidFill>
              </a:rPr>
              <a:t>для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удобной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работы</a:t>
            </a:r>
            <a:r>
              <a:rPr dirty="0">
                <a:solidFill>
                  <a:srgbClr val="FF0000"/>
                </a:solidFill>
              </a:rPr>
              <a:t> с БД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02336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79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Tailwind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937760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888899"/>
                </a:solidFill>
              </a:rPr>
              <a:t>Быстрая</a:t>
            </a:r>
            <a:r>
              <a:rPr sz="1400" b="0" dirty="0">
                <a:solidFill>
                  <a:srgbClr val="888899"/>
                </a:solidFill>
              </a:rPr>
              <a:t> </a:t>
            </a:r>
            <a:r>
              <a:rPr sz="1400" b="0" dirty="0" err="1">
                <a:solidFill>
                  <a:srgbClr val="888899"/>
                </a:solidFill>
              </a:rPr>
              <a:t>разработка</a:t>
            </a:r>
            <a:r>
              <a:rPr dirty="0"/>
              <a:t/>
            </a:r>
            <a:br>
              <a:rPr dirty="0"/>
            </a:br>
            <a:r>
              <a:rPr dirty="0" err="1">
                <a:solidFill>
                  <a:srgbClr val="FF0000"/>
                </a:solidFill>
              </a:rPr>
              <a:t>интерфейсов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598" y="402336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8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</a:rPr>
              <a:t>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4937760"/>
            <a:ext cx="292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888899"/>
                </a:solidFill>
              </a:rPr>
              <a:t>Контейнеризация</a:t>
            </a:r>
            <a:r>
              <a:rPr dirty="0"/>
              <a:t/>
            </a:r>
            <a:br>
              <a:rPr dirty="0"/>
            </a:br>
            <a:r>
              <a:rPr dirty="0">
                <a:solidFill>
                  <a:srgbClr val="FF0000"/>
                </a:solidFill>
              </a:rPr>
              <a:t>и </a:t>
            </a:r>
            <a:r>
              <a:rPr dirty="0" err="1">
                <a:solidFill>
                  <a:srgbClr val="FF0000"/>
                </a:solidFill>
              </a:rPr>
              <a:t>деплой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Давайте сотрудничать!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 err="1">
                <a:solidFill>
                  <a:srgbClr val="CCCCCC"/>
                </a:solidFill>
              </a:rPr>
              <a:t>МебПортал</a:t>
            </a:r>
            <a:r>
              <a:rPr sz="2000" b="0" dirty="0">
                <a:solidFill>
                  <a:srgbClr val="CCCCCC"/>
                </a:solidFill>
              </a:rPr>
              <a:t> — </a:t>
            </a:r>
            <a:r>
              <a:rPr sz="2000" b="0" dirty="0" err="1">
                <a:solidFill>
                  <a:srgbClr val="CCCCCC"/>
                </a:solidFill>
              </a:rPr>
              <a:t>это</a:t>
            </a:r>
            <a:r>
              <a:rPr sz="2000" b="0" dirty="0">
                <a:solidFill>
                  <a:srgbClr val="CCCCCC"/>
                </a:solidFill>
              </a:rPr>
              <a:t> </a:t>
            </a:r>
            <a:r>
              <a:rPr sz="2000" b="0" dirty="0" err="1">
                <a:solidFill>
                  <a:srgbClr val="CCCCCC"/>
                </a:solidFill>
              </a:rPr>
              <a:t>готовая</a:t>
            </a:r>
            <a:r>
              <a:rPr sz="2000" b="0" dirty="0">
                <a:solidFill>
                  <a:srgbClr val="CCCCCC"/>
                </a:solidFill>
              </a:rPr>
              <a:t> </a:t>
            </a:r>
            <a:r>
              <a:rPr sz="2000" b="0" dirty="0" err="1">
                <a:solidFill>
                  <a:srgbClr val="CCCCCC"/>
                </a:solidFill>
              </a:rPr>
              <a:t>платформа</a:t>
            </a:r>
            <a:r>
              <a:rPr sz="2000" b="0" dirty="0">
                <a:solidFill>
                  <a:srgbClr val="CCCCCC"/>
                </a:solidFill>
              </a:rPr>
              <a:t> с </a:t>
            </a:r>
            <a:r>
              <a:rPr sz="2000" b="0" dirty="0" err="1">
                <a:solidFill>
                  <a:srgbClr val="CCCCCC"/>
                </a:solidFill>
              </a:rPr>
              <a:t>современным</a:t>
            </a:r>
            <a:r>
              <a:rPr sz="2000" b="0" dirty="0">
                <a:solidFill>
                  <a:srgbClr val="CCCCCC"/>
                </a:solidFill>
              </a:rPr>
              <a:t> </a:t>
            </a:r>
            <a:r>
              <a:rPr sz="2000" b="0" dirty="0" err="1">
                <a:solidFill>
                  <a:srgbClr val="CCCCCC"/>
                </a:solidFill>
              </a:rPr>
              <a:t>стеком</a:t>
            </a:r>
            <a:r>
              <a:rPr sz="2000" b="0" dirty="0">
                <a:solidFill>
                  <a:srgbClr val="CCCCCC"/>
                </a:solidFill>
              </a:rPr>
              <a:t>,</a:t>
            </a:r>
            <a:r>
              <a:rPr dirty="0"/>
              <a:t/>
            </a:r>
            <a:br>
              <a:rPr dirty="0"/>
            </a:b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реальным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функционалом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и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потенциалом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для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масштабирования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754880"/>
            <a:ext cx="3931920" cy="10972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4892040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FFFF"/>
                </a:solidFill>
              </a:rPr>
              <a:t>www.</a:t>
            </a:r>
            <a:r>
              <a:rPr sz="2400" b="1" dirty="0" smtClean="0">
                <a:solidFill>
                  <a:srgbClr val="FFFFFF"/>
                </a:solidFill>
              </a:rPr>
              <a:t>mebportal.online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 smtClean="0">
                <a:solidFill>
                  <a:srgbClr val="888899"/>
                </a:solidFill>
              </a:rPr>
              <a:t>Надежность для клиентов формируем мы сами</a:t>
            </a:r>
            <a:endParaRPr sz="1400" b="0" dirty="0">
              <a:solidFill>
                <a:srgbClr val="8888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551</Words>
  <Application>Microsoft Office PowerPoint</Application>
  <PresentationFormat>Широкоэкранный</PresentationFormat>
  <Paragraphs>110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Тигран</cp:lastModifiedBy>
  <cp:revision>5</cp:revision>
  <dcterms:created xsi:type="dcterms:W3CDTF">2013-01-27T09:14:16Z</dcterms:created>
  <dcterms:modified xsi:type="dcterms:W3CDTF">2026-07-08T14:20:14Z</dcterms:modified>
  <cp:category/>
</cp:coreProperties>
</file>